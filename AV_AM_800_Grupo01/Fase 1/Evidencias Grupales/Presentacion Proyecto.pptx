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raunces" charset="1" panose="00000000000000000000"/>
      <p:regular r:id="rId21"/>
    </p:embeddedFon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3"/>
    </p:embeddedFont>
    <p:embeddedFont>
      <p:font typeface="Arimo Italics" charset="1" panose="020B0604020202090204"/>
      <p:regular r:id="rId27"/>
    </p:embeddedFont>
    <p:embeddedFont>
      <p:font typeface="Fraunces Bold" charset="1" panose="00000000000000000000"/>
      <p:regular r:id="rId30"/>
    </p:embeddedFont>
    <p:embeddedFont>
      <p:font typeface="Arimo Bold Italics" charset="1" panose="020B070402020209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572" y="-8039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80438" y="760962"/>
            <a:ext cx="6579460" cy="8772982"/>
            <a:chOff x="0" y="0"/>
            <a:chExt cx="8772614" cy="1169731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" r="0" b="-1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131562"/>
            <a:ext cx="9452677" cy="261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Sistema de Monitoreo IoT para Procesos de Limpieza Industrial CIP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6500" y="6527612"/>
            <a:ext cx="10445658" cy="331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40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Monitoreo en tiempo real para la gestión y optimización de los recursos utilizados durante los ciclos de limpieza</a:t>
            </a:r>
          </a:p>
          <a:p>
            <a:pPr algn="l">
              <a:lnSpc>
                <a:spcPts val="3838"/>
              </a:lnSpc>
            </a:pPr>
            <a:r>
              <a:rPr lang="en-US" sz="2405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Proyecto APT / Capstone Ingeniería Informática — Duoc UC</a:t>
            </a:r>
          </a:p>
          <a:p>
            <a:pPr algn="l">
              <a:lnSpc>
                <a:spcPts val="3838"/>
              </a:lnSpc>
            </a:pPr>
            <a:r>
              <a:rPr lang="en-US" sz="240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Humberto León  •  Felipe Carreño  •  Tamara Quilaleo  •  Cristian Quilaleo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4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794485" y="103206"/>
            <a:ext cx="10872043" cy="60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901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Introducción: Procesos de Limpieza CIP y COP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377" y="1451023"/>
            <a:ext cx="4980236" cy="46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00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Tipos de limpieza industrial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377" y="2205355"/>
            <a:ext cx="3830092" cy="46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00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CIP — Clean-in-Place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794" y="2701380"/>
            <a:ext cx="14168735" cy="32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36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Limpieza de tuberías y líneas </a:t>
            </a:r>
            <a:r>
              <a:rPr lang="en-US" sz="236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sin desmontar</a:t>
            </a:r>
            <a:r>
              <a:rPr lang="en-US" sz="236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. El producto de limpieza circula internamente por el sistema.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794" y="3264062"/>
            <a:ext cx="4754314" cy="46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00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COP — Clean-out-of-Place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7794" y="3738164"/>
            <a:ext cx="13233946" cy="32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36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Limpieza de componentes </a:t>
            </a:r>
            <a:r>
              <a:rPr lang="en-US" sz="236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desmontables</a:t>
            </a:r>
            <a:r>
              <a:rPr lang="en-US" sz="236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: bandejas, cintas transportadoras, paredes y accesorios.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15817" y="3358140"/>
            <a:ext cx="6842188" cy="6842360"/>
            <a:chOff x="0" y="0"/>
            <a:chExt cx="9122918" cy="912314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122918" cy="9123172"/>
            </a:xfrm>
            <a:custGeom>
              <a:avLst/>
              <a:gdLst/>
              <a:ahLst/>
              <a:cxnLst/>
              <a:rect r="r" b="b" t="t" l="l"/>
              <a:pathLst>
                <a:path h="9123172" w="9122918">
                  <a:moveTo>
                    <a:pt x="0" y="0"/>
                  </a:moveTo>
                  <a:lnTo>
                    <a:pt x="9122918" y="0"/>
                  </a:lnTo>
                  <a:lnTo>
                    <a:pt x="9122918" y="9123172"/>
                  </a:lnTo>
                  <a:lnTo>
                    <a:pt x="0" y="912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3930" y="5298355"/>
            <a:ext cx="4170015" cy="50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321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Fases del proceso CIP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1695" y="6117077"/>
            <a:ext cx="8371109" cy="3141223"/>
            <a:chOff x="0" y="0"/>
            <a:chExt cx="9122918" cy="342333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122918" cy="3423285"/>
            </a:xfrm>
            <a:custGeom>
              <a:avLst/>
              <a:gdLst/>
              <a:ahLst/>
              <a:cxnLst/>
              <a:rect r="r" b="b" t="t" l="l"/>
              <a:pathLst>
                <a:path h="3423285" w="9122918">
                  <a:moveTo>
                    <a:pt x="0" y="0"/>
                  </a:moveTo>
                  <a:lnTo>
                    <a:pt x="9122918" y="0"/>
                  </a:lnTo>
                  <a:lnTo>
                    <a:pt x="9122918" y="3423285"/>
                  </a:lnTo>
                  <a:lnTo>
                    <a:pt x="0" y="3423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" r="0" b="-10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09909" y="8295779"/>
            <a:ext cx="1262577" cy="2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86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Enjuague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7613" y="8295779"/>
            <a:ext cx="1262588" cy="2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86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Ácido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05961" y="8258899"/>
            <a:ext cx="1262577" cy="2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86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Enjuague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4207" y="8258899"/>
            <a:ext cx="1262577" cy="2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86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Alcalino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930" y="8258899"/>
            <a:ext cx="1501100" cy="28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188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Preenjuague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7297" y="324870"/>
            <a:ext cx="16315868" cy="86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Contexto Operacional y Problemática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120" y="1838628"/>
            <a:ext cx="2974344" cy="48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10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Situación actual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517120" y="2995854"/>
            <a:ext cx="714764" cy="714784"/>
          </a:xfrm>
          <a:custGeom>
            <a:avLst/>
            <a:gdLst/>
            <a:ahLst/>
            <a:cxnLst/>
            <a:rect r="r" b="b" t="t" l="l"/>
            <a:pathLst>
              <a:path h="714784" w="714764">
                <a:moveTo>
                  <a:pt x="0" y="0"/>
                </a:moveTo>
                <a:lnTo>
                  <a:pt x="714764" y="0"/>
                </a:lnTo>
                <a:lnTo>
                  <a:pt x="714764" y="714784"/>
                </a:lnTo>
                <a:lnTo>
                  <a:pt x="0" y="71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7321" r="0" b="-3732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7120" y="4031121"/>
            <a:ext cx="3889014" cy="48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104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Sensores disponibles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120" y="4673181"/>
            <a:ext cx="8304945" cy="96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54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temperatura, conductividad y caudal — datos visibles en PLC que no dejan historial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17120" y="6203677"/>
            <a:ext cx="714764" cy="714784"/>
          </a:xfrm>
          <a:custGeom>
            <a:avLst/>
            <a:gdLst/>
            <a:ahLst/>
            <a:cxnLst/>
            <a:rect r="r" b="b" t="t" l="l"/>
            <a:pathLst>
              <a:path h="714784" w="714764">
                <a:moveTo>
                  <a:pt x="0" y="0"/>
                </a:moveTo>
                <a:lnTo>
                  <a:pt x="714764" y="0"/>
                </a:lnTo>
                <a:lnTo>
                  <a:pt x="714764" y="714784"/>
                </a:lnTo>
                <a:lnTo>
                  <a:pt x="0" y="714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06" r="0" b="-140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7120" y="7238954"/>
            <a:ext cx="3663499" cy="48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104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El problema central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7120" y="7881004"/>
            <a:ext cx="8304945" cy="146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54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 visualiza solo el funcionamiento pero no los d</a:t>
            </a:r>
            <a:r>
              <a:rPr lang="en-US" sz="254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atos en tiempo real, tampoco existe </a:t>
            </a:r>
            <a:r>
              <a:rPr lang="en-US" sz="254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almacenamiento centralizado, ni análisis histórico</a:t>
            </a:r>
            <a:r>
              <a:rPr lang="en-US" sz="254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50920" y="2476655"/>
            <a:ext cx="8217513" cy="6789191"/>
            <a:chOff x="0" y="0"/>
            <a:chExt cx="10956684" cy="9052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6671" cy="9052306"/>
            </a:xfrm>
            <a:custGeom>
              <a:avLst/>
              <a:gdLst/>
              <a:ahLst/>
              <a:cxnLst/>
              <a:rect r="r" b="b" t="t" l="l"/>
              <a:pathLst>
                <a:path h="9052306" w="10956671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10697845" y="0"/>
                  </a:lnTo>
                  <a:cubicBezTo>
                    <a:pt x="10840720" y="0"/>
                    <a:pt x="10956671" y="115824"/>
                    <a:pt x="10956671" y="258826"/>
                  </a:cubicBezTo>
                  <a:lnTo>
                    <a:pt x="10956671" y="8793480"/>
                  </a:lnTo>
                  <a:cubicBezTo>
                    <a:pt x="10956671" y="8936355"/>
                    <a:pt x="10840847" y="9052306"/>
                    <a:pt x="10697845" y="9052306"/>
                  </a:cubicBezTo>
                  <a:lnTo>
                    <a:pt x="258826" y="9052306"/>
                  </a:lnTo>
                  <a:cubicBezTo>
                    <a:pt x="115824" y="9052306"/>
                    <a:pt x="0" y="8936355"/>
                    <a:pt x="0" y="8793480"/>
                  </a:cubicBezTo>
                  <a:close/>
                </a:path>
              </a:pathLst>
            </a:custGeom>
            <a:solidFill>
              <a:srgbClr val="0066C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64529" y="2593591"/>
            <a:ext cx="4835020" cy="5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127" u="sng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Consecuencias operativas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2413" y="3248471"/>
            <a:ext cx="7678645" cy="358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197" indent="-235598" lvl="1">
              <a:lnSpc>
                <a:spcPts val="4058"/>
              </a:lnSpc>
              <a:buFont typeface="Arial"/>
              <a:buChar char="•"/>
            </a:pPr>
            <a:r>
              <a:rPr lang="en-US" sz="26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Puntos ciegos: sin historial de consumo de agua, productos químicos ni comportamiento de variables.</a:t>
            </a:r>
          </a:p>
          <a:p>
            <a:pPr algn="l" marL="471197" indent="-235598" lvl="1">
              <a:lnSpc>
                <a:spcPts val="4058"/>
              </a:lnSpc>
              <a:buFont typeface="Arial"/>
              <a:buChar char="•"/>
            </a:pPr>
            <a:r>
              <a:rPr lang="en-US" sz="26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Toma de decisiones </a:t>
            </a:r>
            <a:r>
              <a:rPr lang="en-US" b="true" sz="260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reactiva</a:t>
            </a:r>
            <a:r>
              <a:rPr lang="en-US" sz="26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sin capacidad de detectar patrones o anticipar problemas.</a:t>
            </a:r>
          </a:p>
          <a:p>
            <a:pPr algn="l" marL="471197" indent="-235598" lvl="1">
              <a:lnSpc>
                <a:spcPts val="4058"/>
              </a:lnSpc>
              <a:buFont typeface="Arial"/>
              <a:buChar char="•"/>
            </a:pPr>
            <a:r>
              <a:rPr lang="en-US" sz="26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Dificultad para optimizar recursos entre ciclos o comparar procesos.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6644" y="7159427"/>
            <a:ext cx="7274414" cy="15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601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"El problema no es medir sensores, sino transformar datos en información útil para gestionar el proceso."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64529" y="7386534"/>
            <a:ext cx="38129" cy="1301772"/>
            <a:chOff x="0" y="0"/>
            <a:chExt cx="50838" cy="17356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" cy="1735709"/>
            </a:xfrm>
            <a:custGeom>
              <a:avLst/>
              <a:gdLst/>
              <a:ahLst/>
              <a:cxnLst/>
              <a:rect r="r" b="b" t="t" l="l"/>
              <a:pathLst>
                <a:path h="173570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710309"/>
                  </a:lnTo>
                  <a:cubicBezTo>
                    <a:pt x="50800" y="1724406"/>
                    <a:pt x="39370" y="1735709"/>
                    <a:pt x="25400" y="1735709"/>
                  </a:cubicBezTo>
                  <a:cubicBezTo>
                    <a:pt x="11430" y="1735709"/>
                    <a:pt x="0" y="1724279"/>
                    <a:pt x="0" y="1710309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53" y="-8039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44995" y="713746"/>
            <a:ext cx="6650507" cy="8867556"/>
            <a:chOff x="0" y="0"/>
            <a:chExt cx="8867343" cy="1182340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67394" cy="11823446"/>
            </a:xfrm>
            <a:custGeom>
              <a:avLst/>
              <a:gdLst/>
              <a:ahLst/>
              <a:cxnLst/>
              <a:rect r="r" b="b" t="t" l="l"/>
              <a:pathLst>
                <a:path h="11823446" w="8867394">
                  <a:moveTo>
                    <a:pt x="0" y="0"/>
                  </a:moveTo>
                  <a:lnTo>
                    <a:pt x="8867394" y="0"/>
                  </a:lnTo>
                  <a:lnTo>
                    <a:pt x="8867394" y="11823446"/>
                  </a:lnTo>
                  <a:lnTo>
                    <a:pt x="0" y="11823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126779"/>
            <a:ext cx="9452677" cy="134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Solución Propuesta: Ecosistema IoT Centralizado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2658104"/>
            <a:ext cx="9452677" cy="65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Desarrollar un sistema IoT que capture variables críticas, las centralice en un </a:t>
            </a:r>
            <a:r>
              <a:rPr lang="en-US" sz="165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dashboard web interactivo</a:t>
            </a: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y mejore el control, la trazabilidad y la toma de decisiones.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8219" y="3485750"/>
            <a:ext cx="3054029" cy="2743857"/>
            <a:chOff x="0" y="0"/>
            <a:chExt cx="4072039" cy="3658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72128" cy="3658489"/>
            </a:xfrm>
            <a:custGeom>
              <a:avLst/>
              <a:gdLst/>
              <a:ahLst/>
              <a:cxnLst/>
              <a:rect r="r" b="b" t="t" l="l"/>
              <a:pathLst>
                <a:path h="3658489" w="407212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3952494" y="0"/>
                  </a:lnTo>
                  <a:cubicBezTo>
                    <a:pt x="4018534" y="0"/>
                    <a:pt x="4072128" y="53594"/>
                    <a:pt x="4072128" y="119634"/>
                  </a:cubicBezTo>
                  <a:lnTo>
                    <a:pt x="4072128" y="3538855"/>
                  </a:lnTo>
                  <a:cubicBezTo>
                    <a:pt x="4072128" y="3604895"/>
                    <a:pt x="4018534" y="3658489"/>
                    <a:pt x="3952494" y="3658489"/>
                  </a:cubicBezTo>
                  <a:lnTo>
                    <a:pt x="119634" y="3658489"/>
                  </a:lnTo>
                  <a:cubicBezTo>
                    <a:pt x="53594" y="3658489"/>
                    <a:pt x="0" y="3604895"/>
                    <a:pt x="0" y="353885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5209" y="3703215"/>
            <a:ext cx="1465064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Tiempo real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5209" y="4093178"/>
            <a:ext cx="2600058" cy="153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Monitoreo continuo de variables críticas en cada ciclo CIP.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92238" y="3485750"/>
            <a:ext cx="3054029" cy="2743857"/>
            <a:chOff x="0" y="0"/>
            <a:chExt cx="4072039" cy="36584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72128" cy="3658489"/>
            </a:xfrm>
            <a:custGeom>
              <a:avLst/>
              <a:gdLst/>
              <a:ahLst/>
              <a:cxnLst/>
              <a:rect r="r" b="b" t="t" l="l"/>
              <a:pathLst>
                <a:path h="3658489" w="407212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3952494" y="0"/>
                  </a:lnTo>
                  <a:cubicBezTo>
                    <a:pt x="4018534" y="0"/>
                    <a:pt x="4072128" y="53594"/>
                    <a:pt x="4072128" y="119634"/>
                  </a:cubicBezTo>
                  <a:lnTo>
                    <a:pt x="4072128" y="3538855"/>
                  </a:lnTo>
                  <a:cubicBezTo>
                    <a:pt x="4072128" y="3604895"/>
                    <a:pt x="4018534" y="3658489"/>
                    <a:pt x="3952494" y="3658489"/>
                  </a:cubicBezTo>
                  <a:lnTo>
                    <a:pt x="119634" y="3658489"/>
                  </a:lnTo>
                  <a:cubicBezTo>
                    <a:pt x="53594" y="3658489"/>
                    <a:pt x="0" y="3604895"/>
                    <a:pt x="0" y="353885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419219" y="3703215"/>
            <a:ext cx="1071184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Historial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19219" y="4093178"/>
            <a:ext cx="2600058" cy="140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Registro estructurado para análisis y comparación de ciclos.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396248" y="3485750"/>
            <a:ext cx="3054182" cy="2743857"/>
            <a:chOff x="0" y="0"/>
            <a:chExt cx="4072242" cy="36584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72255" cy="3658489"/>
            </a:xfrm>
            <a:custGeom>
              <a:avLst/>
              <a:gdLst/>
              <a:ahLst/>
              <a:cxnLst/>
              <a:rect r="r" b="b" t="t" l="l"/>
              <a:pathLst>
                <a:path h="3658489" w="4072255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3952621" y="0"/>
                  </a:lnTo>
                  <a:cubicBezTo>
                    <a:pt x="4018661" y="0"/>
                    <a:pt x="4072255" y="53594"/>
                    <a:pt x="4072255" y="119634"/>
                  </a:cubicBezTo>
                  <a:lnTo>
                    <a:pt x="4072255" y="3538855"/>
                  </a:lnTo>
                  <a:cubicBezTo>
                    <a:pt x="4072255" y="3604895"/>
                    <a:pt x="4018661" y="3658489"/>
                    <a:pt x="3952621" y="3658489"/>
                  </a:cubicBezTo>
                  <a:lnTo>
                    <a:pt x="119634" y="3658489"/>
                  </a:lnTo>
                  <a:cubicBezTo>
                    <a:pt x="53594" y="3658489"/>
                    <a:pt x="0" y="3604895"/>
                    <a:pt x="0" y="353885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623238" y="3703215"/>
            <a:ext cx="869589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Alertas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23238" y="4093178"/>
            <a:ext cx="2600211" cy="153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Avisos automáticos cuando los parámetros salen de rango.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8219" y="6379588"/>
            <a:ext cx="4656039" cy="1999136"/>
            <a:chOff x="0" y="0"/>
            <a:chExt cx="6208052" cy="26655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08014" cy="2665476"/>
            </a:xfrm>
            <a:custGeom>
              <a:avLst/>
              <a:gdLst/>
              <a:ahLst/>
              <a:cxnLst/>
              <a:rect r="r" b="b" t="t" l="l"/>
              <a:pathLst>
                <a:path h="2665476" w="6208014">
                  <a:moveTo>
                    <a:pt x="0" y="119761"/>
                  </a:moveTo>
                  <a:cubicBezTo>
                    <a:pt x="0" y="53594"/>
                    <a:pt x="53594" y="0"/>
                    <a:pt x="119761" y="0"/>
                  </a:cubicBezTo>
                  <a:lnTo>
                    <a:pt x="6088253" y="0"/>
                  </a:lnTo>
                  <a:cubicBezTo>
                    <a:pt x="6154420" y="0"/>
                    <a:pt x="6208014" y="53594"/>
                    <a:pt x="6208014" y="119761"/>
                  </a:cubicBezTo>
                  <a:lnTo>
                    <a:pt x="6208014" y="2545715"/>
                  </a:lnTo>
                  <a:cubicBezTo>
                    <a:pt x="6208014" y="2611882"/>
                    <a:pt x="6154420" y="2665476"/>
                    <a:pt x="6088253" y="2665476"/>
                  </a:cubicBezTo>
                  <a:lnTo>
                    <a:pt x="119761" y="2665476"/>
                  </a:lnTo>
                  <a:cubicBezTo>
                    <a:pt x="53594" y="2665476"/>
                    <a:pt x="0" y="2611882"/>
                    <a:pt x="0" y="254571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15209" y="6597053"/>
            <a:ext cx="1116482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Recursos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5209" y="6987026"/>
            <a:ext cx="4202068" cy="7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Seguimiento de agua, producto recuperado y descartado.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794238" y="6379588"/>
            <a:ext cx="4656182" cy="1999136"/>
            <a:chOff x="0" y="0"/>
            <a:chExt cx="6208243" cy="26655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08268" cy="2665476"/>
            </a:xfrm>
            <a:custGeom>
              <a:avLst/>
              <a:gdLst/>
              <a:ahLst/>
              <a:cxnLst/>
              <a:rect r="r" b="b" t="t" l="l"/>
              <a:pathLst>
                <a:path h="2665476" w="6208268">
                  <a:moveTo>
                    <a:pt x="0" y="119761"/>
                  </a:moveTo>
                  <a:cubicBezTo>
                    <a:pt x="0" y="53594"/>
                    <a:pt x="53594" y="0"/>
                    <a:pt x="119761" y="0"/>
                  </a:cubicBezTo>
                  <a:lnTo>
                    <a:pt x="6088507" y="0"/>
                  </a:lnTo>
                  <a:cubicBezTo>
                    <a:pt x="6154674" y="0"/>
                    <a:pt x="6208268" y="53594"/>
                    <a:pt x="6208268" y="119761"/>
                  </a:cubicBezTo>
                  <a:lnTo>
                    <a:pt x="6208268" y="2545715"/>
                  </a:lnTo>
                  <a:cubicBezTo>
                    <a:pt x="6208268" y="2611882"/>
                    <a:pt x="6154674" y="2665476"/>
                    <a:pt x="6088507" y="2665476"/>
                  </a:cubicBezTo>
                  <a:lnTo>
                    <a:pt x="119761" y="2665476"/>
                  </a:lnTo>
                  <a:cubicBezTo>
                    <a:pt x="53594" y="2665476"/>
                    <a:pt x="0" y="2611882"/>
                    <a:pt x="0" y="254571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021229" y="6597053"/>
            <a:ext cx="2258832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u="sng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Análisis predictivo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21229" y="6987026"/>
            <a:ext cx="4202211" cy="11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MVP para anticipar anomalías, detectar patrones y habilitar mantenimiento preventivo.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7576" y="660302"/>
            <a:ext cx="10830220" cy="76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</a:pPr>
            <a:r>
              <a:rPr lang="en-US" sz="46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Metodología: Scrum e Incrementalidad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576" y="1676610"/>
            <a:ext cx="420000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343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Plan de 7 Sprints + Cierre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9273" y="2308269"/>
            <a:ext cx="2491235" cy="40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543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Roles del equipo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499273" y="2903191"/>
            <a:ext cx="3967001" cy="2407701"/>
          </a:xfrm>
          <a:custGeom>
            <a:avLst/>
            <a:gdLst/>
            <a:ahLst/>
            <a:cxnLst/>
            <a:rect r="r" b="b" t="t" l="l"/>
            <a:pathLst>
              <a:path h="2407701" w="3967001">
                <a:moveTo>
                  <a:pt x="0" y="0"/>
                </a:moveTo>
                <a:lnTo>
                  <a:pt x="3967001" y="0"/>
                </a:lnTo>
                <a:lnTo>
                  <a:pt x="3967001" y="2407701"/>
                </a:lnTo>
                <a:lnTo>
                  <a:pt x="0" y="240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9" r="0" b="-179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11307270" y="3103035"/>
            <a:ext cx="350853" cy="350863"/>
          </a:xfrm>
          <a:custGeom>
            <a:avLst/>
            <a:gdLst/>
            <a:ahLst/>
            <a:cxnLst/>
            <a:rect r="r" b="b" t="t" l="l"/>
            <a:pathLst>
              <a:path h="350863" w="350853">
                <a:moveTo>
                  <a:pt x="0" y="0"/>
                </a:moveTo>
                <a:lnTo>
                  <a:pt x="350854" y="0"/>
                </a:lnTo>
                <a:lnTo>
                  <a:pt x="350854" y="350863"/>
                </a:lnTo>
                <a:lnTo>
                  <a:pt x="0" y="3508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405" r="0" b="-540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62649" y="3802447"/>
            <a:ext cx="2470252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42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Cristian Quilaleo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2649" y="4259723"/>
            <a:ext cx="3440249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197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Backend, Base de datos, API, almacenamiento.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3653373" y="2903191"/>
            <a:ext cx="3967153" cy="2407701"/>
          </a:xfrm>
          <a:custGeom>
            <a:avLst/>
            <a:gdLst/>
            <a:ahLst/>
            <a:cxnLst/>
            <a:rect r="r" b="b" t="t" l="l"/>
            <a:pathLst>
              <a:path h="2407701" w="3967153">
                <a:moveTo>
                  <a:pt x="0" y="0"/>
                </a:moveTo>
                <a:lnTo>
                  <a:pt x="3967153" y="0"/>
                </a:lnTo>
                <a:lnTo>
                  <a:pt x="3967153" y="2407701"/>
                </a:lnTo>
                <a:lnTo>
                  <a:pt x="0" y="240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1" r="0" b="-181"/>
            </a:stretch>
          </a:blipFill>
        </p:spPr>
      </p:sp>
      <p:sp>
        <p:nvSpPr>
          <p:cNvPr name="Freeform 14" id="14" descr="preencoded.png"/>
          <p:cNvSpPr/>
          <p:nvPr/>
        </p:nvSpPr>
        <p:spPr>
          <a:xfrm flipH="false" flipV="false" rot="0">
            <a:off x="15461513" y="3103035"/>
            <a:ext cx="350853" cy="350863"/>
          </a:xfrm>
          <a:custGeom>
            <a:avLst/>
            <a:gdLst/>
            <a:ahLst/>
            <a:cxnLst/>
            <a:rect r="r" b="b" t="t" l="l"/>
            <a:pathLst>
              <a:path h="350863" w="350853">
                <a:moveTo>
                  <a:pt x="0" y="0"/>
                </a:moveTo>
                <a:lnTo>
                  <a:pt x="350854" y="0"/>
                </a:lnTo>
                <a:lnTo>
                  <a:pt x="350854" y="350863"/>
                </a:lnTo>
                <a:lnTo>
                  <a:pt x="0" y="3508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407" t="0" r="-540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916739" y="3802447"/>
            <a:ext cx="2320376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42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Humberto León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16739" y="4259723"/>
            <a:ext cx="3440411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197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Frontend, UI/UX, dashboard, visualización.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499273" y="5497992"/>
            <a:ext cx="3967001" cy="2407701"/>
          </a:xfrm>
          <a:custGeom>
            <a:avLst/>
            <a:gdLst/>
            <a:ahLst/>
            <a:cxnLst/>
            <a:rect r="r" b="b" t="t" l="l"/>
            <a:pathLst>
              <a:path h="2407701" w="3967001">
                <a:moveTo>
                  <a:pt x="0" y="0"/>
                </a:moveTo>
                <a:lnTo>
                  <a:pt x="3967001" y="0"/>
                </a:lnTo>
                <a:lnTo>
                  <a:pt x="3967001" y="2407701"/>
                </a:lnTo>
                <a:lnTo>
                  <a:pt x="0" y="240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9" r="0" b="-179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11307270" y="5697826"/>
            <a:ext cx="350853" cy="350863"/>
          </a:xfrm>
          <a:custGeom>
            <a:avLst/>
            <a:gdLst/>
            <a:ahLst/>
            <a:cxnLst/>
            <a:rect r="r" b="b" t="t" l="l"/>
            <a:pathLst>
              <a:path h="350863" w="350853">
                <a:moveTo>
                  <a:pt x="0" y="0"/>
                </a:moveTo>
                <a:lnTo>
                  <a:pt x="350854" y="0"/>
                </a:lnTo>
                <a:lnTo>
                  <a:pt x="350854" y="350863"/>
                </a:lnTo>
                <a:lnTo>
                  <a:pt x="0" y="35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14" t="0" r="-13517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62649" y="6397238"/>
            <a:ext cx="2452392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42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Tamara Quilaleo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2649" y="6854523"/>
            <a:ext cx="3440249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197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Integración, tiempo real, alertas.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3653373" y="5497992"/>
            <a:ext cx="3967153" cy="2407701"/>
          </a:xfrm>
          <a:custGeom>
            <a:avLst/>
            <a:gdLst/>
            <a:ahLst/>
            <a:cxnLst/>
            <a:rect r="r" b="b" t="t" l="l"/>
            <a:pathLst>
              <a:path h="2407701" w="3967153">
                <a:moveTo>
                  <a:pt x="0" y="0"/>
                </a:moveTo>
                <a:lnTo>
                  <a:pt x="3967153" y="0"/>
                </a:lnTo>
                <a:lnTo>
                  <a:pt x="3967153" y="2407701"/>
                </a:lnTo>
                <a:lnTo>
                  <a:pt x="0" y="240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1" r="0" b="-181"/>
            </a:stretch>
          </a:blipFill>
        </p:spPr>
      </p:sp>
      <p:sp>
        <p:nvSpPr>
          <p:cNvPr name="Freeform 22" id="22" descr="preencoded.png"/>
          <p:cNvSpPr/>
          <p:nvPr/>
        </p:nvSpPr>
        <p:spPr>
          <a:xfrm flipH="false" flipV="false" rot="0">
            <a:off x="15461513" y="5697826"/>
            <a:ext cx="350853" cy="350863"/>
          </a:xfrm>
          <a:custGeom>
            <a:avLst/>
            <a:gdLst/>
            <a:ahLst/>
            <a:cxnLst/>
            <a:rect r="r" b="b" t="t" l="l"/>
            <a:pathLst>
              <a:path h="350863" w="350853">
                <a:moveTo>
                  <a:pt x="0" y="0"/>
                </a:moveTo>
                <a:lnTo>
                  <a:pt x="350854" y="0"/>
                </a:lnTo>
                <a:lnTo>
                  <a:pt x="350854" y="350863"/>
                </a:lnTo>
                <a:lnTo>
                  <a:pt x="0" y="3508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458" r="0" b="-945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916739" y="6397238"/>
            <a:ext cx="2162918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42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Felipe Carreño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6739" y="6854523"/>
            <a:ext cx="3440411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197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QA, pruebas, documentación, Scrum Master.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7576" y="2467999"/>
            <a:ext cx="550088" cy="676420"/>
            <a:chOff x="0" y="0"/>
            <a:chExt cx="733450" cy="9018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20685" y="2474990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1 · 24 ago – 6 sep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0685" y="2776409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Arquitectura Firebase, cotización de sensores y diseño de la simulación de datos para ML.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90585" y="3512696"/>
            <a:ext cx="550088" cy="676420"/>
            <a:chOff x="0" y="0"/>
            <a:chExt cx="733450" cy="9018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13694" y="3519688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2 · 7 – 20 sep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13694" y="3821106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Compra de sensores, Firebase Authentication y primer modelo ML entrenado con datos simulados.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7576" y="4541882"/>
            <a:ext cx="550088" cy="676420"/>
            <a:chOff x="0" y="0"/>
            <a:chExt cx="733450" cy="9018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20685" y="4548873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3 · 21 sep – 4 oct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20685" y="4850292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Armado de la maqueta, pipeline de ingesta en tiempo real y modelo ML integrado al backend.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97576" y="5497992"/>
            <a:ext cx="550088" cy="676420"/>
            <a:chOff x="0" y="0"/>
            <a:chExt cx="733450" cy="9018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520685" y="5504974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4 · 5 – 18 oct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0685" y="5806402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Primer end-to-end con datos reales de la maqueta y primer panel de análisis predictivo.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97576" y="6444779"/>
            <a:ext cx="550088" cy="676420"/>
            <a:chOff x="0" y="0"/>
            <a:chExt cx="733450" cy="9018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5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20685" y="6451761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5 · 19 oct – 1 nov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20685" y="6753189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Visualización completa de variables y modelos ML empezando a usar datos reales.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97576" y="7381839"/>
            <a:ext cx="550088" cy="676420"/>
            <a:chOff x="0" y="0"/>
            <a:chExt cx="733450" cy="9018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6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520685" y="7388821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6 · 2 – 15 nov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20685" y="7690249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Roles y seguridad por rol, y modelos ML validados contra datos reales acumulados.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90585" y="8314530"/>
            <a:ext cx="550088" cy="676420"/>
            <a:chOff x="0" y="0"/>
            <a:chExt cx="733450" cy="9018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7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513694" y="8321511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Sprint 7 · 16 – 29 nov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13694" y="8622940"/>
            <a:ext cx="71499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Pruebas integrales, documentación, despliegue estable y UAT interno.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90585" y="9225972"/>
            <a:ext cx="550088" cy="676420"/>
            <a:chOff x="0" y="0"/>
            <a:chExt cx="733450" cy="90189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3425" cy="901862"/>
            </a:xfrm>
            <a:custGeom>
              <a:avLst/>
              <a:gdLst/>
              <a:ahLst/>
              <a:cxnLst/>
              <a:rect r="r" b="b" t="t" l="l"/>
              <a:pathLst>
                <a:path h="901862" w="733425">
                  <a:moveTo>
                    <a:pt x="0" y="252521"/>
                  </a:moveTo>
                  <a:cubicBezTo>
                    <a:pt x="0" y="113065"/>
                    <a:pt x="91948" y="0"/>
                    <a:pt x="205359" y="0"/>
                  </a:cubicBezTo>
                  <a:lnTo>
                    <a:pt x="528066" y="0"/>
                  </a:lnTo>
                  <a:cubicBezTo>
                    <a:pt x="641477" y="0"/>
                    <a:pt x="733425" y="113065"/>
                    <a:pt x="733425" y="252521"/>
                  </a:cubicBezTo>
                  <a:lnTo>
                    <a:pt x="733425" y="649341"/>
                  </a:lnTo>
                  <a:cubicBezTo>
                    <a:pt x="733425" y="788798"/>
                    <a:pt x="641477" y="901862"/>
                    <a:pt x="528066" y="901862"/>
                  </a:cubicBezTo>
                  <a:lnTo>
                    <a:pt x="205359" y="901862"/>
                  </a:lnTo>
                  <a:cubicBezTo>
                    <a:pt x="91948" y="901862"/>
                    <a:pt x="0" y="788798"/>
                    <a:pt x="0" y="649341"/>
                  </a:cubicBezTo>
                  <a:close/>
                </a:path>
              </a:pathLst>
            </a:custGeom>
            <a:solidFill>
              <a:srgbClr val="283157"/>
            </a:solidFill>
            <a:ln w="13970" cap="sq">
              <a:solidFill>
                <a:srgbClr val="414A7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733450" cy="901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C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513694" y="9232954"/>
            <a:ext cx="714999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EBECEF"/>
                </a:solidFill>
                <a:latin typeface="Fraunces Bold"/>
                <a:ea typeface="Fraunces Bold"/>
                <a:cs typeface="Fraunces Bold"/>
                <a:sym typeface="Fraunces Bold"/>
              </a:rPr>
              <a:t>Cierre · 30 nov – 4 dic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13694" y="9534382"/>
            <a:ext cx="71499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BFC3D9"/>
                </a:solidFill>
                <a:latin typeface="Arimo"/>
                <a:ea typeface="Arimo"/>
                <a:cs typeface="Arimo"/>
                <a:sym typeface="Arimo"/>
              </a:rPr>
              <a:t>Ajustes finales y presentación del MVP al cliente (04-12-2026).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4570"/>
            <a:ext cx="16315868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Arquitectura Tecnológica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16687" y="2007175"/>
            <a:ext cx="13868467" cy="6346974"/>
            <a:chOff x="0" y="0"/>
            <a:chExt cx="18491289" cy="846263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8491327" cy="8462645"/>
            </a:xfrm>
            <a:custGeom>
              <a:avLst/>
              <a:gdLst/>
              <a:ahLst/>
              <a:cxnLst/>
              <a:rect r="r" b="b" t="t" l="l"/>
              <a:pathLst>
                <a:path h="8462645" w="18491327">
                  <a:moveTo>
                    <a:pt x="0" y="0"/>
                  </a:moveTo>
                  <a:lnTo>
                    <a:pt x="18491327" y="0"/>
                  </a:lnTo>
                  <a:lnTo>
                    <a:pt x="18491327" y="8462645"/>
                  </a:lnTo>
                  <a:lnTo>
                    <a:pt x="0" y="8462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" r="0" b="-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375385" y="2642883"/>
            <a:ext cx="3381432" cy="76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Capa de Procesamiento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5385" y="3499895"/>
            <a:ext cx="3381432" cy="29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GCP, Firebase, React y Next.js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5580" y="4920806"/>
            <a:ext cx="3067831" cy="38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7"/>
              </a:lnSpc>
            </a:pPr>
            <a:r>
              <a:rPr lang="en-US" sz="24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Capa de Captura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44680" y="5394322"/>
            <a:ext cx="3108741" cy="563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Sensores LoRaWAN, Gateway 4G/5G inalámbrica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75385" y="5997988"/>
            <a:ext cx="3067831" cy="38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Capa de Proceso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75385" y="6471504"/>
            <a:ext cx="3381432" cy="58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Sensores: pH, temp, presión, caudal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8584711"/>
            <a:ext cx="16315868" cy="866556"/>
            <a:chOff x="0" y="0"/>
            <a:chExt cx="21754490" cy="11554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54592" cy="1155446"/>
            </a:xfrm>
            <a:custGeom>
              <a:avLst/>
              <a:gdLst/>
              <a:ahLst/>
              <a:cxnLst/>
              <a:rect r="r" b="b" t="t" l="l"/>
              <a:pathLst>
                <a:path h="1155446" w="21754592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21619463" y="0"/>
                  </a:lnTo>
                  <a:cubicBezTo>
                    <a:pt x="21694012" y="0"/>
                    <a:pt x="21754592" y="60452"/>
                    <a:pt x="21754592" y="135128"/>
                  </a:cubicBezTo>
                  <a:lnTo>
                    <a:pt x="21754592" y="1020318"/>
                  </a:lnTo>
                  <a:cubicBezTo>
                    <a:pt x="21754592" y="1094867"/>
                    <a:pt x="21694139" y="1155446"/>
                    <a:pt x="21619463" y="1155446"/>
                  </a:cubicBezTo>
                  <a:lnTo>
                    <a:pt x="135128" y="1155446"/>
                  </a:lnTo>
                  <a:cubicBezTo>
                    <a:pt x="60452" y="1155446"/>
                    <a:pt x="0" y="1094994"/>
                    <a:pt x="0" y="1020318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126" y="8877090"/>
            <a:ext cx="301457" cy="241144"/>
            <a:chOff x="0" y="0"/>
            <a:chExt cx="401942" cy="32152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01955" cy="321564"/>
            </a:xfrm>
            <a:custGeom>
              <a:avLst/>
              <a:gdLst/>
              <a:ahLst/>
              <a:cxnLst/>
              <a:rect r="r" b="b" t="t" l="l"/>
              <a:pathLst>
                <a:path h="321564" w="401955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5" r="3" b="-77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76717" y="8773630"/>
            <a:ext cx="16206092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Valor principal:</a:t>
            </a:r>
            <a:r>
              <a:rPr lang="en-US" sz="18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Centralizar información actualmente dispersa para gestión histórica y análisis de tendencias operacionales.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30841" y="694830"/>
            <a:ext cx="6678654" cy="8905246"/>
            <a:chOff x="0" y="0"/>
            <a:chExt cx="8904872" cy="1187366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904859" cy="11873611"/>
            </a:xfrm>
            <a:custGeom>
              <a:avLst/>
              <a:gdLst/>
              <a:ahLst/>
              <a:cxnLst/>
              <a:rect r="r" b="b" t="t" l="l"/>
              <a:pathLst>
                <a:path h="11873611" w="8904859">
                  <a:moveTo>
                    <a:pt x="0" y="0"/>
                  </a:moveTo>
                  <a:lnTo>
                    <a:pt x="8904859" y="0"/>
                  </a:lnTo>
                  <a:lnTo>
                    <a:pt x="8904859" y="11873611"/>
                  </a:lnTo>
                  <a:lnTo>
                    <a:pt x="0" y="1187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941184"/>
            <a:ext cx="9452677" cy="58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Competencias del Proyecto APT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1678334"/>
            <a:ext cx="9452677" cy="51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El proyecto demuestra las capacidades del Ingeniero en Informática: </a:t>
            </a:r>
            <a:r>
              <a:rPr lang="en-US" sz="142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analizar, diseñar, desarrollar, integrar, implementar y gestionar</a:t>
            </a: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soluciones tecnológicas complejas.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219" y="2323681"/>
            <a:ext cx="9462211" cy="1673685"/>
            <a:chOff x="0" y="0"/>
            <a:chExt cx="12616282" cy="2231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16307" cy="2231644"/>
            </a:xfrm>
            <a:custGeom>
              <a:avLst/>
              <a:gdLst/>
              <a:ahLst/>
              <a:cxnLst/>
              <a:rect r="r" b="b" t="t" l="l"/>
              <a:pathLst>
                <a:path h="2231644" w="12616307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2512421" y="0"/>
                  </a:lnTo>
                  <a:cubicBezTo>
                    <a:pt x="12569825" y="0"/>
                    <a:pt x="12616307" y="46482"/>
                    <a:pt x="12616307" y="103886"/>
                  </a:cubicBezTo>
                  <a:lnTo>
                    <a:pt x="12616307" y="2127758"/>
                  </a:lnTo>
                  <a:cubicBezTo>
                    <a:pt x="12616307" y="2185162"/>
                    <a:pt x="12569825" y="2231644"/>
                    <a:pt x="12512421" y="2231644"/>
                  </a:cubicBezTo>
                  <a:lnTo>
                    <a:pt x="103886" y="2231644"/>
                  </a:lnTo>
                  <a:cubicBezTo>
                    <a:pt x="46482" y="2231644"/>
                    <a:pt x="0" y="2185162"/>
                    <a:pt x="0" y="2127758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6910" y="2522372"/>
            <a:ext cx="553164" cy="553183"/>
            <a:chOff x="0" y="0"/>
            <a:chExt cx="737552" cy="7375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338977" y="2674449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0367" r="0" b="-2036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86910" y="3185779"/>
            <a:ext cx="9064828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Desarrollo e Integración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6910" y="3526727"/>
            <a:ext cx="9064828" cy="27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Hardware, sensores, backend, BD y dashboard en una solución integral end-to-end.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8219" y="4107590"/>
            <a:ext cx="9462211" cy="1673685"/>
            <a:chOff x="0" y="0"/>
            <a:chExt cx="12616282" cy="2231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16307" cy="2231644"/>
            </a:xfrm>
            <a:custGeom>
              <a:avLst/>
              <a:gdLst/>
              <a:ahLst/>
              <a:cxnLst/>
              <a:rect r="r" b="b" t="t" l="l"/>
              <a:pathLst>
                <a:path h="2231644" w="12616307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2512421" y="0"/>
                  </a:lnTo>
                  <a:cubicBezTo>
                    <a:pt x="12569825" y="0"/>
                    <a:pt x="12616307" y="46482"/>
                    <a:pt x="12616307" y="103886"/>
                  </a:cubicBezTo>
                  <a:lnTo>
                    <a:pt x="12616307" y="2127758"/>
                  </a:lnTo>
                  <a:cubicBezTo>
                    <a:pt x="12616307" y="2185162"/>
                    <a:pt x="12569825" y="2231644"/>
                    <a:pt x="12512421" y="2231644"/>
                  </a:cubicBezTo>
                  <a:lnTo>
                    <a:pt x="103886" y="2231644"/>
                  </a:lnTo>
                  <a:cubicBezTo>
                    <a:pt x="46482" y="2231644"/>
                    <a:pt x="0" y="2185162"/>
                    <a:pt x="0" y="2127758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6910" y="4306281"/>
            <a:ext cx="553164" cy="553183"/>
            <a:chOff x="0" y="0"/>
            <a:chExt cx="737552" cy="7375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338977" y="4458357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704" t="0" r="-3704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86910" y="4969688"/>
            <a:ext cx="9064828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Gestión de Datos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6910" y="5310635"/>
            <a:ext cx="9064828" cy="27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Captura, almacenamiento, procesamiento y visualización de telemetría en tiempo real.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219" y="5891498"/>
            <a:ext cx="9462211" cy="1673685"/>
            <a:chOff x="0" y="0"/>
            <a:chExt cx="12616282" cy="22315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16307" cy="2231644"/>
            </a:xfrm>
            <a:custGeom>
              <a:avLst/>
              <a:gdLst/>
              <a:ahLst/>
              <a:cxnLst/>
              <a:rect r="r" b="b" t="t" l="l"/>
              <a:pathLst>
                <a:path h="2231644" w="12616307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2512421" y="0"/>
                  </a:lnTo>
                  <a:cubicBezTo>
                    <a:pt x="12569825" y="0"/>
                    <a:pt x="12616307" y="46482"/>
                    <a:pt x="12616307" y="103886"/>
                  </a:cubicBezTo>
                  <a:lnTo>
                    <a:pt x="12616307" y="2127758"/>
                  </a:lnTo>
                  <a:cubicBezTo>
                    <a:pt x="12616307" y="2185162"/>
                    <a:pt x="12569825" y="2231644"/>
                    <a:pt x="12512421" y="2231644"/>
                  </a:cubicBezTo>
                  <a:lnTo>
                    <a:pt x="103886" y="2231644"/>
                  </a:lnTo>
                  <a:cubicBezTo>
                    <a:pt x="46482" y="2231644"/>
                    <a:pt x="0" y="2185162"/>
                    <a:pt x="0" y="2127758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86910" y="6090190"/>
            <a:ext cx="553164" cy="553183"/>
            <a:chOff x="0" y="0"/>
            <a:chExt cx="737552" cy="7375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338977" y="6242266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67" t="0" r="-16671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86910" y="6753596"/>
            <a:ext cx="9064828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Gestión de Proyectos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6910" y="7094544"/>
            <a:ext cx="9064828" cy="27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Planificación Scrum, Sprints, distribución de responsabilidades y MVP progresivo.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8219" y="7675407"/>
            <a:ext cx="9462211" cy="1673685"/>
            <a:chOff x="0" y="0"/>
            <a:chExt cx="12616282" cy="2231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616307" cy="2231644"/>
            </a:xfrm>
            <a:custGeom>
              <a:avLst/>
              <a:gdLst/>
              <a:ahLst/>
              <a:cxnLst/>
              <a:rect r="r" b="b" t="t" l="l"/>
              <a:pathLst>
                <a:path h="2231644" w="12616307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2512421" y="0"/>
                  </a:lnTo>
                  <a:cubicBezTo>
                    <a:pt x="12569825" y="0"/>
                    <a:pt x="12616307" y="46482"/>
                    <a:pt x="12616307" y="103886"/>
                  </a:cubicBezTo>
                  <a:lnTo>
                    <a:pt x="12616307" y="2127758"/>
                  </a:lnTo>
                  <a:cubicBezTo>
                    <a:pt x="12616307" y="2185162"/>
                    <a:pt x="12569825" y="2231644"/>
                    <a:pt x="12512421" y="2231644"/>
                  </a:cubicBezTo>
                  <a:lnTo>
                    <a:pt x="103886" y="2231644"/>
                  </a:lnTo>
                  <a:cubicBezTo>
                    <a:pt x="46482" y="2231644"/>
                    <a:pt x="0" y="2185162"/>
                    <a:pt x="0" y="2127758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86910" y="7874098"/>
            <a:ext cx="553164" cy="553183"/>
            <a:chOff x="0" y="0"/>
            <a:chExt cx="737552" cy="73757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7616" cy="737616"/>
            </a:xfrm>
            <a:custGeom>
              <a:avLst/>
              <a:gdLst/>
              <a:ahLst/>
              <a:cxnLst/>
              <a:rect r="r" b="b" t="t" l="l"/>
              <a:pathLst>
                <a:path h="737616" w="737616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cubicBezTo>
                    <a:pt x="572516" y="0"/>
                    <a:pt x="737616" y="165100"/>
                    <a:pt x="737616" y="368808"/>
                  </a:cubicBezTo>
                  <a:cubicBezTo>
                    <a:pt x="737616" y="572516"/>
                    <a:pt x="572516" y="737616"/>
                    <a:pt x="368808" y="737616"/>
                  </a:cubicBezTo>
                  <a:cubicBezTo>
                    <a:pt x="165100" y="737616"/>
                    <a:pt x="0" y="572516"/>
                    <a:pt x="0" y="368808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1338977" y="8026175"/>
            <a:ext cx="248879" cy="248888"/>
          </a:xfrm>
          <a:custGeom>
            <a:avLst/>
            <a:gdLst/>
            <a:ahLst/>
            <a:cxnLst/>
            <a:rect r="r" b="b" t="t" l="l"/>
            <a:pathLst>
              <a:path h="248888" w="248879">
                <a:moveTo>
                  <a:pt x="0" y="0"/>
                </a:moveTo>
                <a:lnTo>
                  <a:pt x="248879" y="0"/>
                </a:lnTo>
                <a:lnTo>
                  <a:pt x="248879" y="248888"/>
                </a:lnTo>
                <a:lnTo>
                  <a:pt x="0" y="2488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86910" y="8537505"/>
            <a:ext cx="9064828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Seguridad y Calidad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6910" y="8878453"/>
            <a:ext cx="9064828" cy="27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Pruebas, estabilidad de comunicaciones y validación de datos de sensores.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49538"/>
            <a:ext cx="16315868" cy="7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Riesgos y Seguridad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393710"/>
            <a:ext cx="10411406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Riesgos identificados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962076"/>
            <a:ext cx="5114925" cy="3888496"/>
          </a:xfrm>
          <a:custGeom>
            <a:avLst/>
            <a:gdLst/>
            <a:ahLst/>
            <a:cxnLst/>
            <a:rect r="r" b="b" t="t" l="l"/>
            <a:pathLst>
              <a:path h="3888496" w="5114925">
                <a:moveTo>
                  <a:pt x="0" y="0"/>
                </a:moveTo>
                <a:lnTo>
                  <a:pt x="5114925" y="0"/>
                </a:lnTo>
                <a:lnTo>
                  <a:pt x="5114925" y="3888496"/>
                </a:lnTo>
                <a:lnTo>
                  <a:pt x="0" y="3888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2961" y="4208135"/>
            <a:ext cx="4489371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Internos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961" y="4757195"/>
            <a:ext cx="4489371" cy="18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Integración hardware-software y pérdida de datos en transmisión.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Lecturas incorrectas de sensores y latencia entre captura y visualización.</a:t>
            </a:r>
          </a:p>
          <a:p>
            <a:pPr algn="l" marL="312645" indent="-156323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Procesamiento de grandes volúmenes de registros históricos.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289472" y="3962076"/>
            <a:ext cx="5114925" cy="3888496"/>
          </a:xfrm>
          <a:custGeom>
            <a:avLst/>
            <a:gdLst/>
            <a:ahLst/>
            <a:cxnLst/>
            <a:rect r="r" b="b" t="t" l="l"/>
            <a:pathLst>
              <a:path h="3888496" w="5114925">
                <a:moveTo>
                  <a:pt x="0" y="0"/>
                </a:moveTo>
                <a:lnTo>
                  <a:pt x="5114925" y="0"/>
                </a:lnTo>
                <a:lnTo>
                  <a:pt x="5114925" y="3888496"/>
                </a:lnTo>
                <a:lnTo>
                  <a:pt x="0" y="3888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59442" y="4208135"/>
            <a:ext cx="4489371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Externos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59442" y="4757195"/>
            <a:ext cx="4489371" cy="126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Alto costo de sensores industriales certificados.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Posibles demoras de importación de componentes.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59442" y="6230693"/>
            <a:ext cx="4489371" cy="13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b="true" sz="1726" i="true">
                <a:solidFill>
                  <a:srgbClr val="EBECE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Mitigación:</a:t>
            </a:r>
            <a:r>
              <a:rPr lang="en-US" sz="1726" i="true">
                <a:solidFill>
                  <a:srgbClr val="EBECEF"/>
                </a:solidFill>
                <a:latin typeface="Arimo Italics"/>
                <a:ea typeface="Arimo Italics"/>
                <a:cs typeface="Arimo Italics"/>
                <a:sym typeface="Arimo Italics"/>
              </a:rPr>
              <a:t> Prototipo académico con sensores genéricos que demuestra arquitectura, comunicación y lógica del sistema.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502686" y="2154336"/>
            <a:ext cx="4280411" cy="4280516"/>
            <a:chOff x="0" y="0"/>
            <a:chExt cx="5707215" cy="570735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707253" cy="5707380"/>
            </a:xfrm>
            <a:custGeom>
              <a:avLst/>
              <a:gdLst/>
              <a:ahLst/>
              <a:cxnLst/>
              <a:rect r="r" b="b" t="t" l="l"/>
              <a:pathLst>
                <a:path h="5707380" w="5707253">
                  <a:moveTo>
                    <a:pt x="0" y="0"/>
                  </a:moveTo>
                  <a:lnTo>
                    <a:pt x="5707253" y="0"/>
                  </a:lnTo>
                  <a:lnTo>
                    <a:pt x="5707253" y="5707380"/>
                  </a:lnTo>
                  <a:lnTo>
                    <a:pt x="0" y="5707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67686" y="6629524"/>
            <a:ext cx="5350545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Seguridad y 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67686" y="7178583"/>
            <a:ext cx="5350545" cy="20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Integridad de datos y almacenamiento estructurado.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Estabilidad de comunicación y validación de datos de sensores.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Pruebas de estrés, latencia y detección de errores antes de entrega.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56593"/>
            <a:ext cx="16315868" cy="53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322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Modelo de Negocio y Mockup del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626470"/>
            <a:ext cx="6285900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Propuesta de Valor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73922" y="1970980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8"/>
                </a:lnTo>
                <a:lnTo>
                  <a:pt x="0" y="908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5254" y="1990049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254" y="2322652"/>
            <a:ext cx="6083637" cy="53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Industrias que utilizan procesos CIP (alimentaria, láctea, farmacéutica, bebidas).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73922" y="3031322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5254" y="3050381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5254" y="3382994"/>
            <a:ext cx="6083637" cy="53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Datos operativos no centralizados ni disponibles para análisis histórico.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73922" y="4091654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5254" y="4110714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Solución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254" y="4443327"/>
            <a:ext cx="6083637" cy="50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Transformar datos de sensores en información centralizada, histórica y comprensible.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73922" y="5151987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95254" y="5171056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Valor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254" y="5503659"/>
            <a:ext cx="6083637" cy="50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Trazabilidad, monitoreo en tiempo real, análisis predictivo y mejor control de recursos.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89066" y="1626470"/>
            <a:ext cx="9629165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Dashboard CIP — Monitoreo en Tiempo Real (Conceptual)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689067" y="1990048"/>
          <a:ext cx="9608707" cy="2726280"/>
        </p:xfrm>
        <a:graphic>
          <a:graphicData uri="http://schemas.openxmlformats.org/drawingml/2006/table">
            <a:tbl>
              <a:tblPr/>
              <a:tblGrid>
                <a:gridCol w="3202902"/>
                <a:gridCol w="3202902"/>
                <a:gridCol w="3202902"/>
              </a:tblGrid>
              <a:tr h="3462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Variable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Valor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Estado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Temperatura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Conductividad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Presión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Turbidez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Alerta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30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Caudal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7689066" y="4849644"/>
            <a:ext cx="9629165" cy="8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Etapas visibles: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Preenjuague → Alcalino → Enjuague → Ácido → Enjuague → Desinfección</a:t>
            </a:r>
          </a:p>
          <a:p>
            <a:pPr algn="l">
              <a:lnSpc>
                <a:spcPts val="1986"/>
              </a:lnSpc>
            </a:pP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Historial: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Registro de ciclos con fecha, duración, consumos y estado  |  </a:t>
            </a: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Alertas: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Parámetros fuera de rango, revisión de sensores, ciclo completado.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9066" y="5827157"/>
            <a:ext cx="9629165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Análisis predictivo — Anticipación de anomalías</a:t>
            </a:r>
          </a:p>
        </p:txBody>
      </p: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7689067" y="6190729"/>
          <a:ext cx="9608707" cy="3088513"/>
        </p:xfrm>
        <a:graphic>
          <a:graphicData uri="http://schemas.openxmlformats.org/drawingml/2006/table">
            <a:tbl>
              <a:tblPr/>
              <a:tblGrid>
                <a:gridCol w="3202902"/>
                <a:gridCol w="3202902"/>
                <a:gridCol w="3202902"/>
              </a:tblGrid>
              <a:tr h="36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Señal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Detalle conceptual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909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Patrón detectado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Variación sostenida en la respuesta de sensores durante el ciclo.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Revisar tendencia histórica y validar consistencia de lectura.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909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Riesgo estimado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Posible desviación del comportamiento esperado en el proceso CIP.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Preparar intervención preventiva y seguimiento reforzado.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905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Recomendación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Priorizar inspección de sensores y ajustar umbrales de monitoreo.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Generar alerta predictiva para el equipo de operación.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973922" y="1970980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8"/>
                </a:lnTo>
                <a:lnTo>
                  <a:pt x="0" y="908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973922" y="3031322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973922" y="4091654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73922" y="5151987"/>
            <a:ext cx="6304959" cy="908409"/>
          </a:xfrm>
          <a:custGeom>
            <a:avLst/>
            <a:gdLst/>
            <a:ahLst/>
            <a:cxnLst/>
            <a:rect r="r" b="b" t="t" l="l"/>
            <a:pathLst>
              <a:path h="908409" w="6304959">
                <a:moveTo>
                  <a:pt x="0" y="0"/>
                </a:moveTo>
                <a:lnTo>
                  <a:pt x="6304959" y="0"/>
                </a:lnTo>
                <a:lnTo>
                  <a:pt x="6304959" y="908409"/>
                </a:lnTo>
                <a:lnTo>
                  <a:pt x="0" y="9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689067" y="1990048"/>
          <a:ext cx="9608707" cy="2726280"/>
        </p:xfrm>
        <a:graphic>
          <a:graphicData uri="http://schemas.openxmlformats.org/drawingml/2006/table">
            <a:tbl>
              <a:tblPr/>
              <a:tblGrid>
                <a:gridCol w="3202902"/>
                <a:gridCol w="3202902"/>
                <a:gridCol w="3202902"/>
              </a:tblGrid>
              <a:tr h="3462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Variable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Valor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Estado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Temperatura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Conductividad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Presión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7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Turbidez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Alerta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3930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Caudal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Dato en tiempo real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Normal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689067" y="6190729"/>
          <a:ext cx="9608707" cy="3088513"/>
        </p:xfrm>
        <a:graphic>
          <a:graphicData uri="http://schemas.openxmlformats.org/drawingml/2006/table">
            <a:tbl>
              <a:tblPr/>
              <a:tblGrid>
                <a:gridCol w="3202902"/>
                <a:gridCol w="3202902"/>
                <a:gridCol w="3202902"/>
              </a:tblGrid>
              <a:tr h="36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Señal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Detalle conceptual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1"/>
                        </a:lnSpc>
                        <a:defRPr/>
                      </a:pPr>
                      <a:r>
                        <a:rPr lang="en-US" sz="12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909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Patrón detectado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Variación sostenida en la respuesta de sensores durante el ciclo.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Revisar tendencia histórica y validar consistencia de lectura.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909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Riesgo estimado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Posible desviación del comportamiento esperado en el proceso CIP.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Preparar intervención preventiva y seguimiento reforzado.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  <a:tr h="905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Recomendación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Priorizar inspección de sensores y ajustar umbrales de monitoreo.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EBEC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Generar alerta predictiva para el equipo de operación.</a:t>
                      </a:r>
                      <a:endParaRPr lang="en-US" sz="1100"/>
                    </a:p>
                  </a:txBody>
                  <a:tcPr marL="109424" marR="109424" marT="109424" marB="109424" anchor="ctr">
                    <a:lnL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34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92991" y="856593"/>
            <a:ext cx="16315868" cy="53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322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Modelo de Negocio y Mockup del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1626470"/>
            <a:ext cx="6285900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Propuesta de Valor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5254" y="1990049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5254" y="2322652"/>
            <a:ext cx="6083637" cy="53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Industrias que utilizan procesos CIP (alimentaria, láctea, farmacéutica, bebidas).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254" y="3050381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5254" y="3382994"/>
            <a:ext cx="6083637" cy="53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Datos operativos no centralizados ni disponibles para análisis histórico.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5254" y="4110714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Solución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254" y="4443327"/>
            <a:ext cx="6083637" cy="50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Transformar datos de sensores en información centralizada, histórica y comprensible.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5254" y="5171056"/>
            <a:ext cx="6083637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Valor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5254" y="5503659"/>
            <a:ext cx="6083637" cy="50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Trazabilidad, monitoreo en tiempo real, análisis predictivo y mejor control de recursos.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89066" y="1626470"/>
            <a:ext cx="9629165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Dashboard CIP — Monitoreo en Tiempo Real (Conceptual)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9066" y="4849644"/>
            <a:ext cx="9629165" cy="8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Etapas visibles: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Preenjuague → Alcalino → Enjuague → Ácido → Enjuague → Desinfección</a:t>
            </a:r>
          </a:p>
          <a:p>
            <a:pPr algn="l">
              <a:lnSpc>
                <a:spcPts val="1986"/>
              </a:lnSpc>
            </a:pP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Historial: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Registro de ciclos con fecha, duración, consumos y estado  |  </a:t>
            </a:r>
            <a:r>
              <a:rPr lang="en-US" sz="15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Alertas:</a:t>
            </a:r>
            <a:r>
              <a:rPr lang="en-US" sz="15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Parámetros fuera de rango, revisión de sensores, ciclo completado.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89066" y="5827157"/>
            <a:ext cx="9629165" cy="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Análisis predictivo — Anticipación de anomalías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0" y="242408"/>
            <a:ext cx="18288000" cy="10052631"/>
          </a:xfrm>
          <a:custGeom>
            <a:avLst/>
            <a:gdLst/>
            <a:ahLst/>
            <a:cxnLst/>
            <a:rect r="r" b="b" t="t" l="l"/>
            <a:pathLst>
              <a:path h="10052631" w="18288000">
                <a:moveTo>
                  <a:pt x="0" y="0"/>
                </a:moveTo>
                <a:lnTo>
                  <a:pt x="18288000" y="0"/>
                </a:lnTo>
                <a:lnTo>
                  <a:pt x="18288000" y="10052631"/>
                </a:lnTo>
                <a:lnTo>
                  <a:pt x="0" y="10052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5" r="-725" b="-1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192" y="694830"/>
            <a:ext cx="6678654" cy="8905246"/>
            <a:chOff x="0" y="0"/>
            <a:chExt cx="8904872" cy="1187366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904859" cy="11873611"/>
            </a:xfrm>
            <a:custGeom>
              <a:avLst/>
              <a:gdLst/>
              <a:ahLst/>
              <a:cxnLst/>
              <a:rect r="r" b="b" t="t" l="l"/>
              <a:pathLst>
                <a:path h="11873611" w="8904859">
                  <a:moveTo>
                    <a:pt x="0" y="0"/>
                  </a:moveTo>
                  <a:lnTo>
                    <a:pt x="8904859" y="0"/>
                  </a:lnTo>
                  <a:lnTo>
                    <a:pt x="8904859" y="11873611"/>
                  </a:lnTo>
                  <a:lnTo>
                    <a:pt x="0" y="1187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882053"/>
            <a:ext cx="9452677" cy="116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De Datos Aislados a Información para la Toma de Decisiones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6182" y="2224192"/>
            <a:ext cx="922096" cy="1337377"/>
            <a:chOff x="0" y="0"/>
            <a:chExt cx="1229462" cy="178316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229487" cy="1783207"/>
            </a:xfrm>
            <a:custGeom>
              <a:avLst/>
              <a:gdLst/>
              <a:ahLst/>
              <a:cxnLst/>
              <a:rect r="r" b="b" t="t" l="l"/>
              <a:pathLst>
                <a:path h="1783207" w="1229487">
                  <a:moveTo>
                    <a:pt x="0" y="0"/>
                  </a:moveTo>
                  <a:lnTo>
                    <a:pt x="1229487" y="0"/>
                  </a:lnTo>
                  <a:lnTo>
                    <a:pt x="1229487" y="1783207"/>
                  </a:lnTo>
                  <a:lnTo>
                    <a:pt x="0" y="178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2" b="-10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898017" y="2399052"/>
            <a:ext cx="8410832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8017" y="2730484"/>
            <a:ext cx="8410832" cy="64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Sensores disponibles, sin almacenamiento centralizado ni análisis histórico.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56182" y="3561559"/>
            <a:ext cx="922096" cy="1337377"/>
            <a:chOff x="0" y="0"/>
            <a:chExt cx="1229462" cy="178316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229487" cy="1783207"/>
            </a:xfrm>
            <a:custGeom>
              <a:avLst/>
              <a:gdLst/>
              <a:ahLst/>
              <a:cxnLst/>
              <a:rect r="r" b="b" t="t" l="l"/>
              <a:pathLst>
                <a:path h="1783207" w="1229487">
                  <a:moveTo>
                    <a:pt x="0" y="0"/>
                  </a:moveTo>
                  <a:lnTo>
                    <a:pt x="1229487" y="0"/>
                  </a:lnTo>
                  <a:lnTo>
                    <a:pt x="1229487" y="1783207"/>
                  </a:lnTo>
                  <a:lnTo>
                    <a:pt x="0" y="178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1" r="2" b="-10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898017" y="3736429"/>
            <a:ext cx="8410832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98017" y="4067851"/>
            <a:ext cx="8410832" cy="64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Ecosistema IoT que captura variables y las centraliza en una plataforma de monitoreo.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6182" y="4898936"/>
            <a:ext cx="922096" cy="1337377"/>
            <a:chOff x="0" y="0"/>
            <a:chExt cx="1229462" cy="178316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229487" cy="1783207"/>
            </a:xfrm>
            <a:custGeom>
              <a:avLst/>
              <a:gdLst/>
              <a:ahLst/>
              <a:cxnLst/>
              <a:rect r="r" b="b" t="t" l="l"/>
              <a:pathLst>
                <a:path h="1783207" w="1229487">
                  <a:moveTo>
                    <a:pt x="0" y="0"/>
                  </a:moveTo>
                  <a:lnTo>
                    <a:pt x="1229487" y="0"/>
                  </a:lnTo>
                  <a:lnTo>
                    <a:pt x="1229487" y="1783207"/>
                  </a:lnTo>
                  <a:lnTo>
                    <a:pt x="0" y="1783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1" r="2" b="-10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898017" y="5073806"/>
            <a:ext cx="8410832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Valor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98017" y="5405228"/>
            <a:ext cx="8410832" cy="64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Dashboard con visualización en tiempo real, historial y análisis de comportamiento operacional.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6182" y="6236303"/>
            <a:ext cx="922096" cy="1106510"/>
            <a:chOff x="0" y="0"/>
            <a:chExt cx="1229462" cy="147534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229487" cy="1475359"/>
            </a:xfrm>
            <a:custGeom>
              <a:avLst/>
              <a:gdLst/>
              <a:ahLst/>
              <a:cxnLst/>
              <a:rect r="r" b="b" t="t" l="l"/>
              <a:pathLst>
                <a:path h="1475359" w="1229487">
                  <a:moveTo>
                    <a:pt x="0" y="0"/>
                  </a:moveTo>
                  <a:lnTo>
                    <a:pt x="1229487" y="0"/>
                  </a:lnTo>
                  <a:lnTo>
                    <a:pt x="1229487" y="1475359"/>
                  </a:lnTo>
                  <a:lnTo>
                    <a:pt x="0" y="147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8" r="2" b="-25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898017" y="6411173"/>
            <a:ext cx="8410832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Meta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98017" y="6742595"/>
            <a:ext cx="8410832" cy="34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MVP: Sensor → Transmisión → Plataforma → Almacenamiento → Dashboard.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32759" y="7574299"/>
            <a:ext cx="9176090" cy="9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"Medir es el primer paso; transformar los datos en información permite gestionar y optimizar el proceso, anticipar problemas y fortalecer la toma de decisiones mediante análisis predictivo y patrones históricos."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856182" y="7477611"/>
            <a:ext cx="19069" cy="1182472"/>
            <a:chOff x="0" y="0"/>
            <a:chExt cx="25425" cy="15766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1576578"/>
            </a:xfrm>
            <a:custGeom>
              <a:avLst/>
              <a:gdLst/>
              <a:ahLst/>
              <a:cxnLst/>
              <a:rect r="r" b="b" t="t" l="l"/>
              <a:pathLst>
                <a:path h="157657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563878"/>
                  </a:lnTo>
                  <a:cubicBezTo>
                    <a:pt x="25400" y="1570863"/>
                    <a:pt x="19685" y="1576578"/>
                    <a:pt x="12700" y="1576578"/>
                  </a:cubicBezTo>
                  <a:cubicBezTo>
                    <a:pt x="5715" y="1576578"/>
                    <a:pt x="0" y="1570863"/>
                    <a:pt x="0" y="1563878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DAHT4WVXPeo</dc:identifier>
  <dcterms:modified xsi:type="dcterms:W3CDTF">2011-08-01T06:04:30Z</dcterms:modified>
  <cp:revision>1</cp:revision>
  <dc:title>Sistema-de-Monitoreo-IoT-para-Procesos-de-Limpieza-Industrial-CIP.pptx</dc:title>
</cp:coreProperties>
</file>